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D4A23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Active</c:v>
                </c:pt>
                <c:pt idx="1">
                  <c:v>Inactive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248</c:v>
                </c:pt>
                <c:pt idx="1">
                  <c:v>252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E22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E4FA0"/>
              </a:solidFill>
              <a:effectLst/>
            </c:spPr>
          </c:dPt>
          <c:dPt>
            <c:idx val="2"/>
            <c:bubble3D val="0"/>
            <c:spPr>
              <a:solidFill>
                <a:srgbClr val="6E84CC"/>
              </a:solidFill>
              <a:effectLst/>
            </c:spPr>
          </c:dPt>
          <c:dPt>
            <c:idx val="3"/>
            <c:bubble3D val="0"/>
            <c:spPr>
              <a:solidFill>
                <a:srgbClr val="A9BC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VIP</c:v>
                </c:pt>
                <c:pt idx="1">
                  <c:v>Premium</c:v>
                </c:pt>
                <c:pt idx="2">
                  <c:v>Regular</c:v>
                </c:pt>
                <c:pt idx="3">
                  <c:v>New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315</c:v>
                </c:pt>
                <c:pt idx="1">
                  <c:v>126</c:v>
                </c:pt>
                <c:pt idx="2">
                  <c:v>38</c:v>
                </c:pt>
                <c:pt idx="3">
                  <c:v>21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E22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VIP</c:v>
                  </c:pt>
                  <c:pt idx="1">
                    <c:v>Premium</c:v>
                  </c:pt>
                  <c:pt idx="2">
                    <c:v>Regular</c:v>
                  </c:pt>
                  <c:pt idx="3">
                    <c:v>New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25685774.98</c:v>
                </c:pt>
                <c:pt idx="1">
                  <c:v>3696454.06</c:v>
                </c:pt>
                <c:pt idx="2">
                  <c:v>400040.63</c:v>
                </c:pt>
                <c:pt idx="3">
                  <c:v>45335.03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E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8F5"/>
              </a:solidFill>
              <a:prstDash val="solid"/>
              <a:round/>
            </a:ln>
          </c:spPr>
        </c:majorGridlines>
        <c:numFmt formatCode="#,##0,,&quot;L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,,&quot;L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Tamil Nadu</c:v>
                  </c:pt>
                  <c:pt idx="1">
                    <c:v>Maharashtra</c:v>
                  </c:pt>
                  <c:pt idx="2">
                    <c:v>West Bengal</c:v>
                  </c:pt>
                  <c:pt idx="3">
                    <c:v>Telangana</c:v>
                  </c:pt>
                  <c:pt idx="4">
                    <c:v>Delhi</c:v>
                  </c:pt>
                  <c:pt idx="5">
                    <c:v>Karnataka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8554656.45</c:v>
                </c:pt>
                <c:pt idx="1">
                  <c:v>7264319.19</c:v>
                </c:pt>
                <c:pt idx="2">
                  <c:v>3668672.99</c:v>
                </c:pt>
                <c:pt idx="3">
                  <c:v>3596053.97</c:v>
                </c:pt>
                <c:pt idx="4">
                  <c:v>3528860.44</c:v>
                </c:pt>
                <c:pt idx="5">
                  <c:v>3215041.66</c:v>
                </c:pt>
              </c:numCache>
            </c:numRef>
          </c:val>
        </c:ser>
        <c:dLbls>
          <c:numFmt formatCode="#,##0,,&quot;L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E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8F5"/>
              </a:solidFill>
              <a:prstDash val="solid"/>
              <a:round/>
            </a:ln>
          </c:spPr>
        </c:majorGridlines>
        <c:numFmt formatCode="#,##0,,&quot;L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Spent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A237"/>
              </a:solidFill>
              <a:effectLst/>
            </c:spPr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13168742.52</c:v>
                </c:pt>
                <c:pt idx="1">
                  <c:v>16658862.18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2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3078149.5</c:v>
                </c:pt>
                <c:pt idx="1">
                  <c:v>2294128.8</c:v>
                </c:pt>
                <c:pt idx="2">
                  <c:v>2581462.97</c:v>
                </c:pt>
                <c:pt idx="3">
                  <c:v>2433681.59</c:v>
                </c:pt>
                <c:pt idx="4">
                  <c:v>3530273.44</c:v>
                </c:pt>
                <c:pt idx="5">
                  <c:v>1765862.3</c:v>
                </c:pt>
                <c:pt idx="6">
                  <c:v>1520795.82</c:v>
                </c:pt>
                <c:pt idx="7">
                  <c:v>3217490.34</c:v>
                </c:pt>
                <c:pt idx="8">
                  <c:v>2049258.01</c:v>
                </c:pt>
                <c:pt idx="9">
                  <c:v>2046637.32</c:v>
                </c:pt>
                <c:pt idx="10">
                  <c:v>2881289.84</c:v>
                </c:pt>
                <c:pt idx="11">
                  <c:v>2428574.77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F5"/>
              </a:solidFill>
              <a:prstDash val="solid"/>
              <a:round/>
            </a:ln>
          </c:spPr>
        </c:majorGridlines>
        <c:numFmt formatCode="#,##0,,&quot;L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E4F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18-22</c:v>
                  </c:pt>
                  <c:pt idx="1">
                    <c:v>23-27</c:v>
                  </c:pt>
                  <c:pt idx="2">
                    <c:v>28-32</c:v>
                  </c:pt>
                  <c:pt idx="3">
                    <c:v>33-37</c:v>
                  </c:pt>
                  <c:pt idx="4">
                    <c:v>38-42</c:v>
                  </c:pt>
                  <c:pt idx="5">
                    <c:v>43-47</c:v>
                  </c:pt>
                  <c:pt idx="6">
                    <c:v>48-52</c:v>
                  </c:pt>
                  <c:pt idx="7">
                    <c:v>53-57</c:v>
                  </c:pt>
                  <c:pt idx="8">
                    <c:v>58-62</c:v>
                  </c:pt>
                  <c:pt idx="9">
                    <c:v>63-67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2838278.18</c:v>
                </c:pt>
                <c:pt idx="1">
                  <c:v>2495680.4699999997</c:v>
                </c:pt>
                <c:pt idx="2">
                  <c:v>2664599.99</c:v>
                </c:pt>
                <c:pt idx="3">
                  <c:v>2429188.84</c:v>
                </c:pt>
                <c:pt idx="4">
                  <c:v>4194139.3899999997</c:v>
                </c:pt>
                <c:pt idx="5">
                  <c:v>3890083.2300000004</c:v>
                </c:pt>
                <c:pt idx="6">
                  <c:v>3669905.9299999997</c:v>
                </c:pt>
                <c:pt idx="7">
                  <c:v>3448701.82</c:v>
                </c:pt>
                <c:pt idx="8">
                  <c:v>3098486.33</c:v>
                </c:pt>
                <c:pt idx="9">
                  <c:v>1098540.52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F5"/>
              </a:solidFill>
              <a:prstDash val="solid"/>
              <a:round/>
            </a:ln>
          </c:spPr>
        </c:majorGridlines>
        <c:numFmt formatCode="#,##0,,&quot;L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029200" cy="50292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56032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Performance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KPIs, segmentation, and statistical analysis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828800" cy="0"/>
          </a:xfrm>
          <a:prstGeom prst="line">
            <a:avLst/>
          </a:prstGeom>
          <a:noFill/>
          <a:ln w="25400">
            <a:solidFill>
              <a:srgbClr val="D4A2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Strategic Review  •  June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data source, and analytical approach behind this dashboard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84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212080" cy="2286000"/>
          </a:xfrm>
          <a:prstGeom prst="roundRect">
            <a:avLst>
              <a:gd name="adj" fmla="val 2800"/>
            </a:avLst>
          </a:prstGeom>
          <a:solidFill>
            <a:srgbClr val="F6F8F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73152" cy="2286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00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 spending behavior, segment value, and regional revenue patterns to support retention and growth strategy.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212080" cy="2286000"/>
          </a:xfrm>
          <a:prstGeom prst="roundRect">
            <a:avLst>
              <a:gd name="adj" fmla="val 2800"/>
            </a:avLst>
          </a:prstGeom>
          <a:solidFill>
            <a:srgbClr val="F6F8FD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371600"/>
            <a:ext cx="73152" cy="2286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600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01168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cleaned customer dataset of 500 records covering demographics, purchase history, segment, and activity status, modeled in Power BI.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5212080" cy="2286000"/>
          </a:xfrm>
          <a:prstGeom prst="roundRect">
            <a:avLst>
              <a:gd name="adj" fmla="val 2800"/>
            </a:avLst>
          </a:prstGeom>
          <a:solidFill>
            <a:srgbClr val="F6F8FD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977640"/>
            <a:ext cx="73152" cy="2286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Analysis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61772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segment, state, age, and gender; customer activity and segmentation; statistical testing of spending and segment-activity relationships.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3977640"/>
            <a:ext cx="5212080" cy="2286000"/>
          </a:xfrm>
          <a:prstGeom prst="roundRect">
            <a:avLst>
              <a:gd name="adj" fmla="val 2800"/>
            </a:avLst>
          </a:prstGeom>
          <a:solidFill>
            <a:srgbClr val="F6F8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3977640"/>
            <a:ext cx="73152" cy="2286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Questions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461772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segments and regions drive revenue? Is spending significantly different by gender? Is customer segment related to activity status?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Performance Dashboard  |  Source: customerdatacleaned.csv (Power BI model)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 from the customer performance model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84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500" y="1371600"/>
            <a:ext cx="2542032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0100" y="155448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0100" y="184708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₹2.98 Cr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00100" y="242316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total spent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06140" y="1371600"/>
            <a:ext cx="2542032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34740" y="155448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34740" y="184708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₹59,655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634740" y="242316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customer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40780" y="1371600"/>
            <a:ext cx="2542032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69380" y="155448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69380" y="184708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248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469380" y="242316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49.6% of base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75420" y="1371600"/>
            <a:ext cx="2542032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04020" y="155448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CUSTOMERS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04020" y="184708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304020" y="242316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25.2% of base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vs Inactive Customers</a:t>
            </a:r>
            <a:endParaRPr lang="en-US" sz="14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65760" y="3611880"/>
          <a:ext cx="42062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484632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 Mix</a:t>
            </a:r>
            <a:endParaRPr lang="en-US" sz="140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4663440" y="3611880"/>
          <a:ext cx="42062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9144000" y="3246120"/>
            <a:ext cx="2468880" cy="3200400"/>
          </a:xfrm>
          <a:prstGeom prst="roundRect">
            <a:avLst>
              <a:gd name="adj" fmla="val 2963"/>
            </a:avLst>
          </a:prstGeom>
          <a:solidFill>
            <a:srgbClr val="F6F8FD"/>
          </a:solidFill>
          <a:ln/>
        </p:spPr>
      </p:sp>
      <p:sp>
        <p:nvSpPr>
          <p:cNvPr id="26" name="Text 22"/>
          <p:cNvSpPr/>
          <p:nvPr/>
        </p:nvSpPr>
        <p:spPr>
          <a:xfrm>
            <a:off x="9345168" y="340156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JOINS BY YEAR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9345168" y="3703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0149840" y="37033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9345168" y="40873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0149840" y="40873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9345168" y="447141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10149840" y="44714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9345168" y="485546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10149840" y="48554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9345168" y="52395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10149840" y="5239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Performance Dashboard  |  Source: customerdatacleaned.csv (Power BI model)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Segment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customer counts, and average spend across customer segments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84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 by Customer Segment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64592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766560" y="12801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Count &amp; Average Spend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766560" y="1691640"/>
            <a:ext cx="4846320" cy="1024128"/>
          </a:xfrm>
          <a:prstGeom prst="roundRect">
            <a:avLst>
              <a:gd name="adj" fmla="val 5357"/>
            </a:avLst>
          </a:prstGeom>
          <a:solidFill>
            <a:srgbClr val="F6F8FD"/>
          </a:solidFill>
          <a:ln/>
        </p:spPr>
      </p:sp>
      <p:sp>
        <p:nvSpPr>
          <p:cNvPr id="9" name="Shape 6"/>
          <p:cNvSpPr/>
          <p:nvPr/>
        </p:nvSpPr>
        <p:spPr>
          <a:xfrm>
            <a:off x="6967728" y="19751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6967728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89520" y="1801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VIP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8952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 customers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692640" y="181965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692640" y="2057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₹81,542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766560" y="2825496"/>
            <a:ext cx="4846320" cy="1024128"/>
          </a:xfrm>
          <a:prstGeom prst="roundRect">
            <a:avLst>
              <a:gd name="adj" fmla="val 5357"/>
            </a:avLst>
          </a:prstGeom>
          <a:solidFill>
            <a:srgbClr val="F6F8FD"/>
          </a:solidFill>
          <a:ln/>
        </p:spPr>
      </p:sp>
      <p:sp>
        <p:nvSpPr>
          <p:cNvPr id="16" name="Shape 13"/>
          <p:cNvSpPr/>
          <p:nvPr/>
        </p:nvSpPr>
        <p:spPr>
          <a:xfrm>
            <a:off x="6967728" y="3108960"/>
            <a:ext cx="457200" cy="457200"/>
          </a:xfrm>
          <a:prstGeom prst="ellipse">
            <a:avLst/>
          </a:prstGeom>
          <a:solidFill>
            <a:srgbClr val="3E4FA0"/>
          </a:solidFill>
          <a:ln/>
        </p:spPr>
      </p:sp>
      <p:sp>
        <p:nvSpPr>
          <p:cNvPr id="17" name="Text 14"/>
          <p:cNvSpPr/>
          <p:nvPr/>
        </p:nvSpPr>
        <p:spPr>
          <a:xfrm>
            <a:off x="696772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589520" y="2935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589520" y="3282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customers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692640" y="29535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692640" y="3191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₹29,337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766560" y="3959352"/>
            <a:ext cx="4846320" cy="1024128"/>
          </a:xfrm>
          <a:prstGeom prst="roundRect">
            <a:avLst>
              <a:gd name="adj" fmla="val 5357"/>
            </a:avLst>
          </a:prstGeom>
          <a:solidFill>
            <a:srgbClr val="F6F8FD"/>
          </a:solidFill>
          <a:ln/>
        </p:spPr>
      </p:sp>
      <p:sp>
        <p:nvSpPr>
          <p:cNvPr id="23" name="Shape 20"/>
          <p:cNvSpPr/>
          <p:nvPr/>
        </p:nvSpPr>
        <p:spPr>
          <a:xfrm>
            <a:off x="6967728" y="4242816"/>
            <a:ext cx="457200" cy="457200"/>
          </a:xfrm>
          <a:prstGeom prst="ellipse">
            <a:avLst/>
          </a:prstGeom>
          <a:solidFill>
            <a:srgbClr val="6E84CC"/>
          </a:solidFill>
          <a:ln/>
        </p:spPr>
      </p:sp>
      <p:sp>
        <p:nvSpPr>
          <p:cNvPr id="24" name="Text 21"/>
          <p:cNvSpPr/>
          <p:nvPr/>
        </p:nvSpPr>
        <p:spPr>
          <a:xfrm>
            <a:off x="6967728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58952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589520" y="4416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customers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692640" y="40873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692640" y="43251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₹10,527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766560" y="5093208"/>
            <a:ext cx="4846320" cy="1024128"/>
          </a:xfrm>
          <a:prstGeom prst="roundRect">
            <a:avLst>
              <a:gd name="adj" fmla="val 5357"/>
            </a:avLst>
          </a:prstGeom>
          <a:solidFill>
            <a:srgbClr val="F6F8FD"/>
          </a:solidFill>
          <a:ln/>
        </p:spPr>
      </p:sp>
      <p:sp>
        <p:nvSpPr>
          <p:cNvPr id="30" name="Shape 27"/>
          <p:cNvSpPr/>
          <p:nvPr/>
        </p:nvSpPr>
        <p:spPr>
          <a:xfrm>
            <a:off x="6967728" y="5376672"/>
            <a:ext cx="457200" cy="457200"/>
          </a:xfrm>
          <a:prstGeom prst="ellipse">
            <a:avLst/>
          </a:prstGeom>
          <a:solidFill>
            <a:srgbClr val="A9BCE8"/>
          </a:solidFill>
          <a:ln/>
        </p:spPr>
      </p:sp>
      <p:sp>
        <p:nvSpPr>
          <p:cNvPr id="31" name="Text 28"/>
          <p:cNvSpPr/>
          <p:nvPr/>
        </p:nvSpPr>
        <p:spPr>
          <a:xfrm>
            <a:off x="6967728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589520" y="52029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589520" y="5550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customers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9692640" y="52212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9692640" y="5458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₹2,159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Performance Dashboard  |  Source: customerdatacleaned.csv (Power BI model)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State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 of customer spending across India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84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68580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371600"/>
            <a:ext cx="393192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5528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MARKET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55280" y="1828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Tamil Nadu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95528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₹85.55 L in revenue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0" y="2670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28.7% of total revenue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80960" y="370332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6F8FD"/>
          </a:solidFill>
          <a:ln/>
        </p:spPr>
      </p:sp>
      <p:sp>
        <p:nvSpPr>
          <p:cNvPr id="12" name="Text 9"/>
          <p:cNvSpPr/>
          <p:nvPr/>
        </p:nvSpPr>
        <p:spPr>
          <a:xfrm>
            <a:off x="7955280" y="3886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SNAPSHOT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55280" y="4187952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and Maharashtra together generate 53% of total revenue. The remaining four states contribute between ₹32.15 L and ₹36.69 L.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Performance Dashboard  |  Source: customerdatacleaned.csv (Power BI model)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Insights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by gender, revenue by age, and revenue seasonality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84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Spent by Gender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600200"/>
          <a:ext cx="39319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4348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 by Month</a:t>
            </a:r>
            <a:endParaRPr lang="en-US" sz="13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251960" y="1600200"/>
          <a:ext cx="40233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8503920" y="1280160"/>
            <a:ext cx="3108960" cy="2788920"/>
          </a:xfrm>
          <a:prstGeom prst="roundRect">
            <a:avLst>
              <a:gd name="adj" fmla="val 2623"/>
            </a:avLst>
          </a:prstGeom>
          <a:solidFill>
            <a:srgbClr val="F6F8FD"/>
          </a:solidFill>
          <a:ln/>
        </p:spPr>
      </p:sp>
      <p:sp>
        <p:nvSpPr>
          <p:cNvPr id="10" name="Text 6"/>
          <p:cNvSpPr/>
          <p:nvPr/>
        </p:nvSpPr>
        <p:spPr>
          <a:xfrm>
            <a:off x="873252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SHARE BY GENDER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8732520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Female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73252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₹1.32 Cr  ·  44.1%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732520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732520" y="2788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₹1.67 Cr  ·  55.9%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 by Customer Age</a:t>
            </a:r>
            <a:endParaRPr lang="en-US" sz="1350" dirty="0"/>
          </a:p>
        </p:txBody>
      </p:sp>
      <p:graphicFrame>
        <p:nvGraphicFramePr>
          <p:cNvPr id="16" name="Chart 2" descr=""/>
          <p:cNvGraphicFramePr/>
          <p:nvPr/>
        </p:nvGraphicFramePr>
        <p:xfrm>
          <a:off x="365760" y="4389120"/>
          <a:ext cx="78638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 1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Performance Dashboard  |  Source: customerdatacleaned.csv (Power BI model)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Test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on spending behavior and segment-activity relationship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84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6F8F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53949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SAMPLES T-TEST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total spending between Male and Female customers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T-VALUE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898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2.05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383280" y="2514600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898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22960" y="374904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2E7D5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49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REJECT H₀  (p &lt; 0.05)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434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73659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statistically significant difference in spending between male and female customers.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6F8FD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1371600"/>
            <a:ext cx="53949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3716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 OF INDEPENDENCE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1938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vs. Customer Activity (IsActive)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2267712"/>
          <a:ext cx="4846320" cy="1234440"/>
        </p:xfrm>
        <a:graphic>
          <a:graphicData uri="http://schemas.openxmlformats.org/drawingml/2006/table">
            <a:tbl>
              <a:tblPr/>
              <a:tblGrid>
                <a:gridCol w="1938528"/>
                <a:gridCol w="1453896"/>
                <a:gridCol w="1453896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(Inactive)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(Active)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6629400" y="3657600"/>
            <a:ext cx="1432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29400" y="3749040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629400" y="3968496"/>
            <a:ext cx="143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1.28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8336280" y="3657600"/>
            <a:ext cx="1432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36280" y="3749040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336280" y="3968496"/>
            <a:ext cx="143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10043160" y="3657600"/>
            <a:ext cx="1432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043160" y="3749040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043160" y="3968496"/>
            <a:ext cx="143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0.7345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629400" y="470916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B23B3B"/>
          </a:solidFill>
          <a:ln/>
        </p:spPr>
      </p:sp>
      <p:sp>
        <p:nvSpPr>
          <p:cNvPr id="34" name="Text 31"/>
          <p:cNvSpPr/>
          <p:nvPr/>
        </p:nvSpPr>
        <p:spPr>
          <a:xfrm>
            <a:off x="6629400" y="4709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FAIL TO REJECT H₀  (p &gt; 0.05)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629400" y="5367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629400" y="56418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and customer activity status are not significantly related — segment does not predict whether a customer remains active.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Performance Dashboard  |  Source: customerdatacleaned.csv (Power BI model)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Performance Dashboard</dc:title>
  <dc:subject>PptxGenJS Presentation</dc:subject>
  <dc:creator>Customer Analytics</dc:creator>
  <cp:lastModifiedBy>Customer Analytics</cp:lastModifiedBy>
  <cp:revision>1</cp:revision>
  <dcterms:created xsi:type="dcterms:W3CDTF">2026-06-20T06:56:57Z</dcterms:created>
  <dcterms:modified xsi:type="dcterms:W3CDTF">2026-06-20T06:56:57Z</dcterms:modified>
</cp:coreProperties>
</file>